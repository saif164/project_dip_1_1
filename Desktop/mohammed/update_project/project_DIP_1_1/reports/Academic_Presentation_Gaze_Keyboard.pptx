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نظام الكيبورد البصري الذكي للتحكم بالرأس وتتبع الأنف</a:t>
            </a:r>
          </a:p>
          <a:p>
            <a:pPr algn="r">
              <a:defRPr sz="2000">
                <a:solidFill>
                  <a:srgbClr val="94A3B8"/>
                </a:solidFill>
                <a:latin typeface="Segoe UI"/>
              </a:defRPr>
            </a:pPr>
            <a:r>
              <a:t>Nose-Controlled Virtual Keyboard with Hand Gestures &amp; 9-Point Calibration</a:t>
            </a:r>
          </a:p>
          <a:p>
            <a:br/>
            <a:pPr algn="r">
              <a:defRPr sz="1600">
                <a:solidFill>
                  <a:srgbClr val="10B981"/>
                </a:solidFill>
                <a:latin typeface="Segoe UI"/>
              </a:defRPr>
            </a:pPr>
            <a:r>
              <a:t>مشروع تخرج متقدم في هندسة البرمجيات والرؤية الحاسوبية (Computer Vision &amp; HCI)</a:t>
            </a:r>
          </a:p>
          <a:p>
            <a:br/>
            <a:pPr algn="r">
              <a:defRPr sz="1400">
                <a:solidFill>
                  <a:srgbClr val="F8FAFC"/>
                </a:solidFill>
                <a:latin typeface="Segoe UI"/>
              </a:defRPr>
            </a:pPr>
            <a:r>
              <a:t>• المعمارية: Layered OOD Architecture | Latching State Machine | Concurrency Multi-Threading</a:t>
            </a:r>
            <a:br/>
            <a:r>
              <a:t>• الحالة: مكتمل ومختبر بنسبة نجاح 100% في اختبارات الوحدات (Unit Testing Passed)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1. تعريف المشكلة والدوافع الهندسية</a:t>
            </a:r>
          </a:p>
          <a:p>
            <a:pPr algn="r">
              <a:defRPr sz="1300">
                <a:solidFill>
                  <a:srgbClr val="94A3B8"/>
                </a:solidFill>
                <a:latin typeface="Segoe UI"/>
              </a:defRPr>
            </a:pPr>
            <a:r>
              <a:t>Conceptual &amp; Domain Modeling: Problem Statement &amp; Significance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41824"/>
          </a:solidFill>
          <a:ln>
            <a:solidFill>
              <a:srgbClr val="2D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تحديات مرضى التصلب الجانبي الضموري (ALS) والشلل الرباعي: فقدان السيطرة الحركية على الأطراف مع بقاء حركة الوجه والعينين.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عائق الحلول التجارية السائدة: أجهزة تتبع بالأشعة تحت الحمراء باهظة التكلفة (5,000$ - 15,000$) وتتطلب عتاداً خاصاً وسريع العطب.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معضلة 'لمسة ميداس' (Midas Touch Problem): الخلط الشائع بين النظر التلقائي المجرد وإرادة النقر الفعلي.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الارتعاش الفسيولوجي الميكروي (Physiological Tremors): تذبذب الرأس الطبيعي يمنع استقرار المؤشر على الحروف الصغيرة.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الهدف والحل البرمجي: نظام كيبورد ذكي يعمل على أي كاميرا ويب عادية (Consumer Webcam) دون أي تكاليف مادية إضافية وبدقة متناهية.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2. هيكلية المتطلبات الشاملة</a:t>
            </a:r>
          </a:p>
          <a:p>
            <a:pPr algn="r">
              <a:defRPr sz="1300">
                <a:solidFill>
                  <a:srgbClr val="94A3B8"/>
                </a:solidFill>
                <a:latin typeface="Segoe UI"/>
              </a:defRPr>
            </a:pPr>
            <a:r>
              <a:t>Requirements Engineering: Functional &amp; Non-Functional Specifications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41824"/>
          </a:solidFill>
          <a:ln>
            <a:solidFill>
              <a:srgbClr val="2D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المتطلبات الوظيفية (FRs): تتبع الأنف، الكتابة بالتثبيت الزمني (Dwell Selection)، والتحكم بالإيماءات وقفل الصفوف.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الأمان والخصوصية (Security &amp; Privacy): معالجة البيانات محلياً بالكامل (100% On-Device) بدون إرسال أي صورة للسحابة.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الأداء والزمن الحقيقي (Performance): معدل إطارات مستقر &gt;= 35 FPS وزمن استجابة كلي &lt;= 28ms واستهلاك منخفض للمعالج.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الموثوقية والتحمل (Reliability &amp; Fault Tolerance): التحول التلقائي لحالة التجميد الآمن (Safe Freeze) فور اختفاء الوجه أو انقطاع الكاميرا.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بيئة العمل المريحة (Ergonomics): تصميم الأزرار وفق قانون فتس (Fitts's Law) لتقليل جهد الرقبة وتوفير زاوية رؤية مريحة &lt;= 15 درجة.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3. المعمارية البرمجية وفصل الاهتمامات</a:t>
            </a:r>
          </a:p>
          <a:p>
            <a:pPr algn="r">
              <a:defRPr sz="1300">
                <a:solidFill>
                  <a:srgbClr val="94A3B8"/>
                </a:solidFill>
                <a:latin typeface="Segoe UI"/>
              </a:defRPr>
            </a:pPr>
            <a:r>
              <a:t>Software Architecture &amp; Modular Separation of Concerns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41824"/>
          </a:solidFill>
          <a:ln>
            <a:solidFill>
              <a:srgbClr val="2D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المعمارية الطبقية (Layered OOD): تقسيم النظام إلى 4 طبقات (Presentation, Coordination, Domain Math, Perception Infrastructure).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وحدة الرياضيات الصرفة (core_math.py): دوال نقية بدون حالة (Pure Stateless Functions) قابلة للاختبار المباشر (100% Testable).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محرك الرؤية وخوارزمية التحكم (tracking_engine.py): عزل تهيئة MediaPipe ومعالجة الحركة عبر NosePointerAlgorithm.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آلة الحالات المستقرة (state_machine.py): إدارة آمنة للحالات ومنع الذبذبة والتداخل العشوائي للإيماءات.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نافذة المعايرة (calibration_ui.py): واجهة تفاعلية مستقلة لمعايرة 9 نقاط واستخراج مصفوفة التحويل التآلفي Affine Transform.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4. نموذج المعالجة متعددة الخيوط لمنع التجميد</a:t>
            </a:r>
          </a:p>
          <a:p>
            <a:pPr algn="r">
              <a:defRPr sz="1300">
                <a:solidFill>
                  <a:srgbClr val="94A3B8"/>
                </a:solidFill>
                <a:latin typeface="Segoe UI"/>
              </a:defRPr>
            </a:pPr>
            <a:r>
              <a:t>Multi-Threaded Concurrency Model: Anti-Freezing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41824"/>
          </a:solidFill>
          <a:ln>
            <a:solidFill>
              <a:srgbClr val="2D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معضلة التجميد (UI Freezing): العمليات الرؤيوية الكثيفة (MediaPipe Inference) تستهلك 15-25ms وتجمد خيط واجهة Tkinter إذا دُمجت معه.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خيط المعالجة المستقل (Background Worker Thread): يتولى حصرياً قراءة الكاميرا واستخراج النقاط وتطبيق خوارزميات التنعيم.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قفل التزامن الآمن (threading.Lock): تداول البيانات بأمان تام بين خيط الكاميرا وخيط الواجهة دون أي سباق بيانات (Zero Race Conditions).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كائن نقل البيانات (TrackingResult DTO): تغليف كافة قياسات الإطار في بنية بيانات متماسكة وثابتة قبل تسليمها للواجهة.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النتيجة الهندسية: واجهة مستخدم فائقة الاستجابة بمعدل 60 إطاراً في الثانية دون أي بطء أو تقطيع.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5. الخوارزميات والتحليل الرياضي المتقدم</a:t>
            </a:r>
          </a:p>
          <a:p>
            <a:pPr algn="r">
              <a:defRPr sz="1300">
                <a:solidFill>
                  <a:srgbClr val="94A3B8"/>
                </a:solidFill>
                <a:latin typeface="Segoe UI"/>
              </a:defRPr>
            </a:pPr>
            <a:r>
              <a:t>Mathematical &amp; Algorithmic Foundations: Deadband &amp; Leash Easing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41824"/>
          </a:solidFill>
          <a:ln>
            <a:solidFill>
              <a:srgbClr val="2D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المنطقة الميتة الصارمة (Strict Deadband): قفل ليزري صامت عند الحركة &lt;= 1.8 بكسل لمنع الارتعاش الفسيولوجي تماماً (Zero Jitter).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التنعيم التدريجي المتصل (Continuous Leash Easing): دالة تسارع انسيابية تضمن اتصال المشتقة واستجابة سريعة فورية بدون مطاطية.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مصفوفة التحويل التآلفي 9 نقاط (Affine Transform): حل منظومة المعادلات بالمربعات الصغرى لربط إحداثيات الأنف بالشاشة بدقة متناهية.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نسبة أبعاد العين (EAR): معادلة هندسية تقيس انفتاح الجفن؛ إذا كان EAR &lt; 0.16 يُعلق التثبيت فوراً لحل معضلة لمسة ميداس.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تقدير زوايا الرأس (Head Pose Yaw &amp; Pitch): التحقق الهندسي من توجه وجه المستخدم للشاشة لحمايته من إجهاد الرقبة.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6. آلة الحالات المستقرة زمنياً (Latching FSM)</a:t>
            </a:r>
          </a:p>
          <a:p>
            <a:pPr algn="r">
              <a:defRPr sz="1300">
                <a:solidFill>
                  <a:srgbClr val="94A3B8"/>
                </a:solidFill>
                <a:latin typeface="Segoe UI"/>
              </a:defRPr>
            </a:pPr>
            <a:r>
              <a:t>Latching State Machine Management &amp; Collision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41824"/>
          </a:solidFill>
          <a:ln>
            <a:solidFill>
              <a:srgbClr val="2D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الحالات المعيارية الخمس: النشطة (ACTIVE)، المتوقفة (PAUSED)، المعايرة (CALIBRATING)، قفل الصف (ROW_LOCKED)، والتجميد الآمن (SAFE_FREEZE).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الاستقرار الزمني وتأكيد الإيماءة (Debounce Latching): اشتراط استمرار القبضة أو الكف لمدة 0.35 ثانية قبل التحول لمنع التقلب العشوائي.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قفل الصفوف بالأصابع: إشارة 1-4 أصابع تقفل حركة المؤشر رأسياً لتسريع الكتابة في بعد أفقي واحد.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القاعدة الهندسية الذهبية: أثناء جلسة المعايرة (CALIBRATING)، تُحظر وتُتجاهل جميع إيماءات اليد تماماً لمنع حدوث أي تعارض.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التعافي الذاتي في التجميد الآمن (SAFE_FREEZE): استعادة الحالة السابقة تلقائياً فور عودة وجه المستخدم للإطار.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7. ضمان الجودة واختبارات الوحدات (Unit Testing)</a:t>
            </a:r>
          </a:p>
          <a:p>
            <a:pPr algn="r">
              <a:defRPr sz="1300">
                <a:solidFill>
                  <a:srgbClr val="94A3B8"/>
                </a:solidFill>
                <a:latin typeface="Segoe UI"/>
              </a:defRPr>
            </a:pPr>
            <a:r>
              <a:t>Software Quality Assurance: Automated Unit Tests (100% Passed)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41824"/>
          </a:solidFill>
          <a:ln>
            <a:solidFill>
              <a:srgbClr val="2D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هرم الاختبارات (Testing Pyramid): تطبيق اختبارات الوحدات الآلية على كافة المكونات الحسابية وآلة الحالات.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تغطية الاختبارات (12 Unit Tests): تشمل فحص EAR، زوايا الرأس، القفل الليزري في المنطقة الميتة، وحل مصفوفة Affine.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إثبات القفل الصارم مخبرياً: تأكيد ثبات إحداثيات المؤشر رياضياً بنسبة تطابق 100% عند تحريك الأنف داخل المنطقة الميتة.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اختبار عزل المعايرة برمجياً: إثبات تجاهل إيماءات اليد وحماية حالة CALIBRATING من التداخل في سيناريوهات الاختبار الآلي.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النتيجة المعملية: نجاح كافة الاختبارات الاثني عشر (Ran 12 tests in 0.001s - OK) وتحقيق معايير الجودة الأكاديمية العليا.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8. الخلاصة والتطويرات المستقبلية</a:t>
            </a:r>
          </a:p>
          <a:p>
            <a:pPr algn="r">
              <a:defRPr sz="1300">
                <a:solidFill>
                  <a:srgbClr val="94A3B8"/>
                </a:solidFill>
                <a:latin typeface="Segoe UI"/>
              </a:defRPr>
            </a:pPr>
            <a:r>
              <a:t>Conclusion, Scientific Impact &amp; Future Research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41824"/>
          </a:solidFill>
          <a:ln>
            <a:solidFill>
              <a:srgbClr val="2D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تحقيق الأهداف: بناء نظام كيبورد ذكي متكامل، مجاني، وعالي الاعتمادية، يعمل على كاميرات الويب القياسية بدون عتاد إضافي.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الالتزام الهندسي الصارم: تطبيق OOD، التزامن متعدد الخيوط، آلة الحالات الدائمة، والتحقق الفسيولوجي المزدوج.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تجربة المستخدم الفاخرة: واجهة داكنة مريحة للعينين، مؤشر ذكي بحلقة تثبيت دائرية (Circular Dwell Ring)، ودعم كامل للغتين العربية والإنجليزية.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التطويرات المستقبلية (Future Work): دمج نماذج التنبؤ بالكلمات بالذكاء الاصطناعي التوليدي لزيادة سرعة الكتابة (WPM).</a:t>
            </a:r>
          </a:p>
          <a:p>
            <a:pPr algn="r">
              <a:spcAft>
                <a:spcPts val="12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إضافة محرك نطق آلي مسموع (Text-to-Speech) لتحويل النص المكتوب إلى صوت عربي طبيعي لذوي الاحتياجات الخاصة.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